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74" r:id="rId6"/>
    <p:sldId id="263" r:id="rId7"/>
    <p:sldId id="276" r:id="rId8"/>
    <p:sldId id="264" r:id="rId9"/>
    <p:sldId id="266" r:id="rId10"/>
    <p:sldId id="267" r:id="rId11"/>
    <p:sldId id="277" r:id="rId12"/>
    <p:sldId id="278" r:id="rId13"/>
    <p:sldId id="268" r:id="rId14"/>
    <p:sldId id="280" r:id="rId15"/>
    <p:sldId id="279" r:id="rId16"/>
    <p:sldId id="269" r:id="rId17"/>
    <p:sldId id="270" r:id="rId18"/>
    <p:sldId id="271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4"/>
    <p:restoredTop sz="88503"/>
  </p:normalViewPr>
  <p:slideViewPr>
    <p:cSldViewPr snapToGrid="0" snapToObjects="1">
      <p:cViewPr varScale="1">
        <p:scale>
          <a:sx n="112" d="100"/>
          <a:sy n="112" d="100"/>
        </p:scale>
        <p:origin x="155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Spieleprogrammierung mit KI</a:t>
            </a:r>
            <a:endParaRPr b="0" dirty="0">
              <a:latin typeface="Trebuchet MS" panose="020B0703020202090204" pitchFamily="34" charset="0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70689"/>
            <a:ext cx="8229600" cy="2898228"/>
          </a:xfrm>
        </p:spPr>
        <p:txBody>
          <a:bodyPr/>
          <a:lstStyle/>
          <a:p>
            <a:pPr marL="0" indent="0" algn="ctr">
              <a:buNone/>
              <a:defRPr sz="28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🎮</a:t>
            </a:r>
            <a:r>
              <a:rPr lang="de-DE" b="0" dirty="0">
                <a:latin typeface="Trebuchet MS" panose="020B070302020209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 Dein eigenes Spiel programmieren!</a:t>
            </a:r>
            <a:br>
              <a:rPr lang="de-DE" b="0" dirty="0">
                <a:latin typeface="Trebuchet MS" panose="020B070302020209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</a:br>
            <a:endParaRPr b="0" dirty="0">
              <a:latin typeface="Trebuchet MS" panose="020B0703020202090204" pitchFamily="34" charset="0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marL="0" indent="0" algn="ctr">
              <a:buNone/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dirty="0">
                <a:latin typeface="Trebuchet MS" panose="020B070302020209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Ein Workshop mit Programmierung &amp; KI</a:t>
            </a:r>
            <a:endParaRPr b="0" dirty="0">
              <a:latin typeface="Trebuchet MS" panose="020B0703020202090204" pitchFamily="34" charset="0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9144000" cy="3657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rebuchet MS" panose="020B0703020202090204" pitchFamily="34" charset="0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8" name="Grafik 7" descr="Geöffnetes Laptop-Gerät">
            <a:extLst>
              <a:ext uri="{FF2B5EF4-FFF2-40B4-BE49-F238E27FC236}">
                <a16:creationId xmlns:a16="http://schemas.microsoft.com/office/drawing/2014/main" id="{5938E127-9F51-C57B-8380-5BE35AE30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6100" y="4055241"/>
            <a:ext cx="1790700" cy="1270000"/>
          </a:xfrm>
          <a:prstGeom prst="rect">
            <a:avLst/>
          </a:prstGeom>
        </p:spPr>
      </p:pic>
      <p:pic>
        <p:nvPicPr>
          <p:cNvPr id="10" name="Grafik 9" descr="Ein Wasserball">
            <a:extLst>
              <a:ext uri="{FF2B5EF4-FFF2-40B4-BE49-F238E27FC236}">
                <a16:creationId xmlns:a16="http://schemas.microsoft.com/office/drawing/2014/main" id="{D302579B-BFD7-9552-8735-81F1EF60B4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478" y="3573517"/>
            <a:ext cx="2233448" cy="2233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 err="1">
                <a:latin typeface="Trebuchet MS" panose="020B0703020202090204" pitchFamily="34" charset="0"/>
              </a:rPr>
              <a:t>Willkommen</a:t>
            </a:r>
            <a:r>
              <a:rPr b="0" dirty="0">
                <a:latin typeface="Trebuchet MS" panose="020B0703020202090204" pitchFamily="34" charset="0"/>
              </a:rPr>
              <a:t>!</a:t>
            </a:r>
            <a:r>
              <a:rPr lang="de-DE" b="0" dirty="0">
                <a:latin typeface="Trebuchet MS" panose="020B0703020202090204" pitchFamily="34" charset="0"/>
              </a:rPr>
              <a:t> </a:t>
            </a:r>
            <a:endParaRPr b="0" dirty="0">
              <a:latin typeface="Trebuchet MS" panose="020B0703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dirty="0">
                <a:latin typeface="Trebuchet MS" panose="020B0703020202090204" pitchFamily="34" charset="0"/>
              </a:rPr>
              <a:t>Zum Ablauf:</a:t>
            </a: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Wie geht Programmierung? </a:t>
            </a:r>
            <a:r>
              <a:rPr b="0" dirty="0">
                <a:latin typeface="Trebuchet MS" panose="020B0703020202090204" pitchFamily="34" charset="0"/>
              </a:rPr>
              <a:t>💡</a:t>
            </a:r>
          </a:p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Was braucht es für ein Spiel? </a:t>
            </a:r>
            <a:r>
              <a:rPr lang="de-DE" dirty="0">
                <a:latin typeface="Trebuchet MS" panose="020B070302020209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🎮</a:t>
            </a:r>
            <a:endParaRPr b="0" dirty="0">
              <a:latin typeface="Trebuchet MS" panose="020B0703020202090204" pitchFamily="34" charset="0"/>
            </a:endParaRPr>
          </a:p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Was ist KI und wie hilft sie uns? </a:t>
            </a:r>
            <a:r>
              <a:rPr lang="de-DE" dirty="0"/>
              <a:t>🤖</a:t>
            </a:r>
            <a:r>
              <a:rPr lang="de-DE" b="0" dirty="0">
                <a:latin typeface="Trebuchet MS" panose="020B0703020202090204" pitchFamily="34" charset="0"/>
              </a:rPr>
              <a:t> </a:t>
            </a:r>
            <a:endParaRPr b="0" dirty="0">
              <a:latin typeface="Trebuchet MS" panose="020B0703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Was </a:t>
            </a:r>
            <a:r>
              <a:rPr b="0" dirty="0" err="1">
                <a:latin typeface="Trebuchet MS" panose="020B0703020202090204" pitchFamily="34" charset="0"/>
              </a:rPr>
              <a:t>ist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Programmierung</a:t>
            </a:r>
            <a:r>
              <a:rPr b="0" dirty="0">
                <a:latin typeface="Trebuchet MS" panose="020B0703020202090204" pitchFamily="34" charset="0"/>
              </a:rPr>
              <a:t>?</a:t>
            </a:r>
          </a:p>
        </p:txBody>
      </p:sp>
      <p:sp>
        <p:nvSpPr>
          <p:cNvPr id="4" name="Gefaltete Ecke 3">
            <a:extLst>
              <a:ext uri="{FF2B5EF4-FFF2-40B4-BE49-F238E27FC236}">
                <a16:creationId xmlns:a16="http://schemas.microsoft.com/office/drawing/2014/main" id="{A2CECC18-A66E-412E-87F1-6725D1E4A6B5}"/>
              </a:ext>
            </a:extLst>
          </p:cNvPr>
          <p:cNvSpPr/>
          <p:nvPr/>
        </p:nvSpPr>
        <p:spPr>
          <a:xfrm>
            <a:off x="1145628" y="1817031"/>
            <a:ext cx="2963917" cy="1692166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Gefaltete Ecke 4">
            <a:extLst>
              <a:ext uri="{FF2B5EF4-FFF2-40B4-BE49-F238E27FC236}">
                <a16:creationId xmlns:a16="http://schemas.microsoft.com/office/drawing/2014/main" id="{743B3E62-D637-9208-48D9-EEDA36C3E25B}"/>
              </a:ext>
            </a:extLst>
          </p:cNvPr>
          <p:cNvSpPr/>
          <p:nvPr/>
        </p:nvSpPr>
        <p:spPr>
          <a:xfrm>
            <a:off x="4577256" y="1817031"/>
            <a:ext cx="2963917" cy="1692166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Gefaltete Ecke 5">
            <a:extLst>
              <a:ext uri="{FF2B5EF4-FFF2-40B4-BE49-F238E27FC236}">
                <a16:creationId xmlns:a16="http://schemas.microsoft.com/office/drawing/2014/main" id="{A86FD456-238E-8D58-B75C-56B4945E1602}"/>
              </a:ext>
            </a:extLst>
          </p:cNvPr>
          <p:cNvSpPr/>
          <p:nvPr/>
        </p:nvSpPr>
        <p:spPr>
          <a:xfrm>
            <a:off x="1145628" y="3966397"/>
            <a:ext cx="2963917" cy="1692166"/>
          </a:xfrm>
          <a:prstGeom prst="foldedCorne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Gefaltete Ecke 6">
            <a:extLst>
              <a:ext uri="{FF2B5EF4-FFF2-40B4-BE49-F238E27FC236}">
                <a16:creationId xmlns:a16="http://schemas.microsoft.com/office/drawing/2014/main" id="{EECDCD79-6F24-FC65-FCBE-B451892E354C}"/>
              </a:ext>
            </a:extLst>
          </p:cNvPr>
          <p:cNvSpPr/>
          <p:nvPr/>
        </p:nvSpPr>
        <p:spPr>
          <a:xfrm>
            <a:off x="4577256" y="3966397"/>
            <a:ext cx="2963917" cy="1692166"/>
          </a:xfrm>
          <a:prstGeom prst="foldedCorne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44E742-583A-3A2C-D4C6-25235D64F11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sz="2400" dirty="0">
                <a:solidFill>
                  <a:srgbClr val="28283C"/>
                </a:solidFill>
                <a:latin typeface="Trebuchet MS" panose="020B0703020202090204" pitchFamily="34" charset="0"/>
              </a:rPr>
              <a:t>Was ist Programmierung?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3B8594E-E9EA-E104-0218-55729B238179}"/>
              </a:ext>
            </a:extLst>
          </p:cNvPr>
          <p:cNvSpPr txBox="1">
            <a:spLocks/>
          </p:cNvSpPr>
          <p:nvPr/>
        </p:nvSpPr>
        <p:spPr>
          <a:xfrm>
            <a:off x="457200" y="1576551"/>
            <a:ext cx="8229600" cy="3836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sz="2400" dirty="0">
                <a:solidFill>
                  <a:srgbClr val="28283C"/>
                </a:solidFill>
                <a:latin typeface="Trebuchet MS" panose="020B0703020202090204" pitchFamily="34" charset="0"/>
              </a:rPr>
              <a:t>🧠 Anweisungen, die der Computer versteht</a:t>
            </a:r>
          </a:p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sz="2400" dirty="0">
                <a:solidFill>
                  <a:srgbClr val="28283C"/>
                </a:solidFill>
                <a:latin typeface="Trebuchet MS" panose="020B0703020202090204" pitchFamily="34" charset="0"/>
              </a:rPr>
              <a:t>➡️ Beispiel: 'Bewege den Ball um 10 Pixel nach unten.‘</a:t>
            </a:r>
          </a:p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sz="2400" dirty="0">
                <a:solidFill>
                  <a:srgbClr val="28283C"/>
                </a:solidFill>
                <a:latin typeface="Trebuchet MS" panose="020B0703020202090204" pitchFamily="34" charset="0"/>
              </a:rPr>
              <a:t>Prinzip: EVA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1B86B1E8-88EC-84A3-47CC-A5950390246E}"/>
              </a:ext>
            </a:extLst>
          </p:cNvPr>
          <p:cNvSpPr/>
          <p:nvPr/>
        </p:nvSpPr>
        <p:spPr>
          <a:xfrm>
            <a:off x="935421" y="3429000"/>
            <a:ext cx="1734207" cy="129277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Eingabe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96F69D91-0272-57D9-46B6-E668FF7A9542}"/>
              </a:ext>
            </a:extLst>
          </p:cNvPr>
          <p:cNvSpPr/>
          <p:nvPr/>
        </p:nvSpPr>
        <p:spPr>
          <a:xfrm>
            <a:off x="3255580" y="3429000"/>
            <a:ext cx="2180896" cy="129277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Verarbeitung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780599D9-D232-6407-6850-160939604F3A}"/>
              </a:ext>
            </a:extLst>
          </p:cNvPr>
          <p:cNvSpPr/>
          <p:nvPr/>
        </p:nvSpPr>
        <p:spPr>
          <a:xfrm>
            <a:off x="6022428" y="3429000"/>
            <a:ext cx="2180896" cy="129277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Ausgabe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E6D000FA-D704-A6D0-D869-496D9F8E2C53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2669628" y="4075386"/>
            <a:ext cx="5859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C154E87B-E482-D35D-AC2F-F8FFB9C3B78D}"/>
              </a:ext>
            </a:extLst>
          </p:cNvPr>
          <p:cNvCxnSpPr/>
          <p:nvPr/>
        </p:nvCxnSpPr>
        <p:spPr>
          <a:xfrm>
            <a:off x="5436476" y="4075386"/>
            <a:ext cx="5859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C589A-52A7-8B72-8E06-263A0E800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2B66-3537-9660-0167-D7AA3C735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 err="1">
                <a:latin typeface="Trebuchet MS" panose="020B0703020202090204" pitchFamily="34" charset="0"/>
              </a:rPr>
              <a:t>Teamgenerator</a:t>
            </a:r>
            <a:r>
              <a:rPr b="0" dirty="0">
                <a:latin typeface="Trebuchet MS" panose="020B0703020202090204" pitchFamily="34" charset="0"/>
              </a:rPr>
              <a:t> 🎲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055E9318-FE40-8AB8-8841-E8C69EEE8621}"/>
              </a:ext>
            </a:extLst>
          </p:cNvPr>
          <p:cNvSpPr/>
          <p:nvPr/>
        </p:nvSpPr>
        <p:spPr>
          <a:xfrm>
            <a:off x="987973" y="1710558"/>
            <a:ext cx="1734207" cy="129277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Eingabe:</a:t>
            </a:r>
            <a:br>
              <a:rPr lang="de-DE" dirty="0"/>
            </a:br>
            <a:r>
              <a:rPr lang="de-DE" dirty="0"/>
              <a:t>Namen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74B83C93-6BA2-9DEC-D2BD-0ECADC8F36D3}"/>
              </a:ext>
            </a:extLst>
          </p:cNvPr>
          <p:cNvSpPr/>
          <p:nvPr/>
        </p:nvSpPr>
        <p:spPr>
          <a:xfrm>
            <a:off x="3308132" y="1710558"/>
            <a:ext cx="2180896" cy="129277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Verarbeitung:</a:t>
            </a:r>
            <a:br>
              <a:rPr lang="de-DE" dirty="0"/>
            </a:br>
            <a:r>
              <a:rPr lang="de-DE" dirty="0"/>
              <a:t>Mischen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B1937D52-4D62-BA24-5FBD-A48611923888}"/>
              </a:ext>
            </a:extLst>
          </p:cNvPr>
          <p:cNvSpPr/>
          <p:nvPr/>
        </p:nvSpPr>
        <p:spPr>
          <a:xfrm>
            <a:off x="6074980" y="1710558"/>
            <a:ext cx="2180896" cy="129277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Ausgabe:</a:t>
            </a:r>
            <a:br>
              <a:rPr lang="de-DE" dirty="0"/>
            </a:br>
            <a:r>
              <a:rPr lang="de-DE" dirty="0"/>
              <a:t>Teams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C5D31C3-8EF1-F240-D94B-A313DF006A3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722180" y="2356944"/>
            <a:ext cx="5859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42CEA65E-F22A-29ED-6078-C19B6555F906}"/>
              </a:ext>
            </a:extLst>
          </p:cNvPr>
          <p:cNvCxnSpPr/>
          <p:nvPr/>
        </p:nvCxnSpPr>
        <p:spPr>
          <a:xfrm>
            <a:off x="5489028" y="2356944"/>
            <a:ext cx="5859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311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Was </a:t>
            </a:r>
            <a:r>
              <a:rPr b="0" dirty="0" err="1">
                <a:latin typeface="Trebuchet MS" panose="020B0703020202090204" pitchFamily="34" charset="0"/>
              </a:rPr>
              <a:t>braucht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ein</a:t>
            </a:r>
            <a:r>
              <a:rPr b="0" dirty="0">
                <a:latin typeface="Trebuchet MS" panose="020B0703020202090204" pitchFamily="34" charset="0"/>
              </a:rPr>
              <a:t> Spiel?</a:t>
            </a:r>
            <a:r>
              <a:rPr lang="de-DE" b="0" dirty="0">
                <a:latin typeface="Trebuchet MS" panose="020B0703020202090204" pitchFamily="34" charset="0"/>
              </a:rPr>
              <a:t> </a:t>
            </a:r>
            <a:r>
              <a:rPr lang="de-DE" dirty="0">
                <a:latin typeface="Trebuchet MS" panose="020B070302020209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🎮</a:t>
            </a:r>
            <a:endParaRPr b="0" dirty="0">
              <a:latin typeface="Trebuchet MS" panose="020B0703020202090204" pitchFamily="34" charset="0"/>
            </a:endParaRPr>
          </a:p>
        </p:txBody>
      </p:sp>
      <p:sp>
        <p:nvSpPr>
          <p:cNvPr id="6" name="Gefaltete Ecke 5">
            <a:extLst>
              <a:ext uri="{FF2B5EF4-FFF2-40B4-BE49-F238E27FC236}">
                <a16:creationId xmlns:a16="http://schemas.microsoft.com/office/drawing/2014/main" id="{206FFA94-6BED-BBE2-5D71-8B20E63BB4E8}"/>
              </a:ext>
            </a:extLst>
          </p:cNvPr>
          <p:cNvSpPr/>
          <p:nvPr/>
        </p:nvSpPr>
        <p:spPr>
          <a:xfrm>
            <a:off x="1145628" y="1817031"/>
            <a:ext cx="2963917" cy="1692166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Gefaltete Ecke 6">
            <a:extLst>
              <a:ext uri="{FF2B5EF4-FFF2-40B4-BE49-F238E27FC236}">
                <a16:creationId xmlns:a16="http://schemas.microsoft.com/office/drawing/2014/main" id="{EC833ACD-3B3B-2D58-A187-4463208E5E35}"/>
              </a:ext>
            </a:extLst>
          </p:cNvPr>
          <p:cNvSpPr/>
          <p:nvPr/>
        </p:nvSpPr>
        <p:spPr>
          <a:xfrm>
            <a:off x="4577256" y="1817031"/>
            <a:ext cx="2963917" cy="1692166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Gefaltete Ecke 7">
            <a:extLst>
              <a:ext uri="{FF2B5EF4-FFF2-40B4-BE49-F238E27FC236}">
                <a16:creationId xmlns:a16="http://schemas.microsoft.com/office/drawing/2014/main" id="{407EC092-D78F-D28E-2081-323FE8C95D4A}"/>
              </a:ext>
            </a:extLst>
          </p:cNvPr>
          <p:cNvSpPr/>
          <p:nvPr/>
        </p:nvSpPr>
        <p:spPr>
          <a:xfrm>
            <a:off x="1145628" y="3966397"/>
            <a:ext cx="2963917" cy="1692166"/>
          </a:xfrm>
          <a:prstGeom prst="foldedCorne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Gefaltete Ecke 8">
            <a:extLst>
              <a:ext uri="{FF2B5EF4-FFF2-40B4-BE49-F238E27FC236}">
                <a16:creationId xmlns:a16="http://schemas.microsoft.com/office/drawing/2014/main" id="{2D00D374-899A-4BAA-E170-DCDA184E99B2}"/>
              </a:ext>
            </a:extLst>
          </p:cNvPr>
          <p:cNvSpPr/>
          <p:nvPr/>
        </p:nvSpPr>
        <p:spPr>
          <a:xfrm>
            <a:off x="4577256" y="3966397"/>
            <a:ext cx="2963917" cy="1692166"/>
          </a:xfrm>
          <a:prstGeom prst="foldedCorne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57989-035F-834B-CF77-32260CF0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910B0-B240-B34E-82EE-65F28678E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Was </a:t>
            </a:r>
            <a:r>
              <a:rPr b="0" dirty="0" err="1">
                <a:latin typeface="Trebuchet MS" panose="020B0703020202090204" pitchFamily="34" charset="0"/>
              </a:rPr>
              <a:t>braucht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ein</a:t>
            </a:r>
            <a:r>
              <a:rPr b="0" dirty="0">
                <a:latin typeface="Trebuchet MS" panose="020B0703020202090204" pitchFamily="34" charset="0"/>
              </a:rPr>
              <a:t> Spiel?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2E66A-8CCB-9AE8-A271-E0B97424E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🧍 Eine </a:t>
            </a:r>
            <a:r>
              <a:rPr b="0" dirty="0" err="1">
                <a:latin typeface="Trebuchet MS" panose="020B0703020202090204" pitchFamily="34" charset="0"/>
              </a:rPr>
              <a:t>Figur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oder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einen</a:t>
            </a:r>
            <a:r>
              <a:rPr b="0" dirty="0">
                <a:latin typeface="Trebuchet MS" panose="020B0703020202090204" pitchFamily="34" charset="0"/>
              </a:rPr>
              <a:t> Ball</a:t>
            </a: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🎯 Ein Ziel</a:t>
            </a: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⚖️ Regeln</a:t>
            </a: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🏃 </a:t>
            </a:r>
            <a:r>
              <a:rPr b="0" dirty="0" err="1">
                <a:latin typeface="Trebuchet MS" panose="020B0703020202090204" pitchFamily="34" charset="0"/>
              </a:rPr>
              <a:t>Bewegung</a:t>
            </a:r>
            <a:endParaRPr b="0" dirty="0">
              <a:latin typeface="Trebuchet MS" panose="020B0703020202090204" pitchFamily="34" charset="0"/>
            </a:endParaRP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😄 Und </a:t>
            </a:r>
            <a:r>
              <a:rPr b="0" dirty="0" err="1">
                <a:latin typeface="Trebuchet MS" panose="020B0703020202090204" pitchFamily="34" charset="0"/>
              </a:rPr>
              <a:t>natürlich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Spaß</a:t>
            </a:r>
            <a:r>
              <a:rPr b="0" dirty="0">
                <a:latin typeface="Trebuchet MS" panose="020B070302020209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1506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Unser </a:t>
            </a:r>
            <a:r>
              <a:rPr lang="de-DE" b="0" dirty="0">
                <a:latin typeface="Trebuchet MS" panose="020B0703020202090204" pitchFamily="34" charset="0"/>
              </a:rPr>
              <a:t>erstes </a:t>
            </a:r>
            <a:r>
              <a:rPr b="0" dirty="0">
                <a:latin typeface="Trebuchet MS" panose="020B0703020202090204" pitchFamily="34" charset="0"/>
              </a:rPr>
              <a:t>Ball-Spiel 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Physik wird </a:t>
            </a:r>
            <a:r>
              <a:rPr lang="de-DE" dirty="0">
                <a:latin typeface="Trebuchet MS" panose="020B0703020202090204" pitchFamily="34" charset="0"/>
              </a:rPr>
              <a:t>“nachgebaut“</a:t>
            </a:r>
            <a:endParaRPr b="0" dirty="0">
              <a:latin typeface="Trebuchet MS" panose="020B0703020202090204" pitchFamily="34" charset="0"/>
            </a:endParaRP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dirty="0">
                <a:latin typeface="Trebuchet MS" panose="020B0703020202090204" pitchFamily="34" charset="0"/>
              </a:rPr>
              <a:t>A</a:t>
            </a:r>
            <a:r>
              <a:rPr lang="de-DE" b="0" dirty="0">
                <a:latin typeface="Trebuchet MS" panose="020B0703020202090204" pitchFamily="34" charset="0"/>
              </a:rPr>
              <a:t>nziehungskraft:</a:t>
            </a:r>
            <a:endParaRPr b="0" dirty="0">
              <a:latin typeface="Trebuchet MS" panose="020B0703020202090204" pitchFamily="34" charset="0"/>
            </a:endParaRPr>
          </a:p>
          <a:p>
            <a:pPr lvl="1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Erde: 0,6</a:t>
            </a:r>
          </a:p>
          <a:p>
            <a:pPr lvl="1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dirty="0">
                <a:latin typeface="Trebuchet MS" panose="020B0703020202090204" pitchFamily="34" charset="0"/>
              </a:rPr>
              <a:t>Mond: 0,2</a:t>
            </a:r>
          </a:p>
          <a:p>
            <a:pPr lvl="1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dirty="0">
                <a:latin typeface="Trebuchet MS" panose="020B0703020202090204" pitchFamily="34" charset="0"/>
              </a:rPr>
              <a:t>Jupiter: 1,5</a:t>
            </a:r>
          </a:p>
          <a:p>
            <a:pPr lvl="1">
              <a:defRPr sz="2400">
                <a:solidFill>
                  <a:srgbClr val="28283C"/>
                </a:solidFill>
                <a:latin typeface="Comic Sans MS"/>
              </a:defRPr>
            </a:pPr>
            <a:endParaRPr lang="de-DE" b="0" dirty="0">
              <a:latin typeface="Trebuchet MS" panose="020B0703020202090204" pitchFamily="34" charset="0"/>
            </a:endParaRPr>
          </a:p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dirty="0">
                <a:latin typeface="Trebuchet MS" panose="020B0703020202090204" pitchFamily="34" charset="0"/>
              </a:rPr>
              <a:t>Probiert‘s aus! 😄</a:t>
            </a:r>
            <a:endParaRPr b="0" dirty="0">
              <a:latin typeface="Trebuchet MS" panose="020B0703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0498"/>
            <a:ext cx="8229600" cy="1143000"/>
          </a:xfrm>
        </p:spPr>
        <p:txBody>
          <a:bodyPr>
            <a:normAutofit/>
          </a:bodyPr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sz="3600" b="0" dirty="0">
                <a:latin typeface="Trebuchet MS" panose="020B0703020202090204" pitchFamily="34" charset="0"/>
              </a:rPr>
              <a:t>Pause 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23310"/>
            <a:ext cx="8229600" cy="2502853"/>
          </a:xfrm>
        </p:spPr>
        <p:txBody>
          <a:bodyPr/>
          <a:lstStyle/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Waffeln?</a:t>
            </a:r>
            <a:endParaRPr b="0" dirty="0">
              <a:latin typeface="Trebuchet MS" panose="020B0703020202090204" pitchFamily="34" charset="0"/>
            </a:endParaRP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Frische Luft?</a:t>
            </a: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endParaRPr lang="de-DE" dirty="0">
              <a:latin typeface="Trebuchet MS" panose="020B0703020202090204" pitchFamily="34" charset="0"/>
            </a:endParaRPr>
          </a:p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dirty="0">
                <a:latin typeface="Trebuchet MS" panose="020B0703020202090204" pitchFamily="34" charset="0"/>
              </a:rPr>
              <a:t>Danach kommt KI 😄</a:t>
            </a:r>
            <a:endParaRPr b="0" dirty="0">
              <a:latin typeface="Trebuchet MS" panose="020B070302020209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Was </a:t>
            </a:r>
            <a:r>
              <a:rPr b="0" dirty="0" err="1">
                <a:latin typeface="Trebuchet MS" panose="020B0703020202090204" pitchFamily="34" charset="0"/>
              </a:rPr>
              <a:t>ist</a:t>
            </a:r>
            <a:r>
              <a:rPr b="0" dirty="0">
                <a:latin typeface="Trebuchet MS" panose="020B0703020202090204" pitchFamily="34" charset="0"/>
              </a:rPr>
              <a:t> KI?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KI = </a:t>
            </a:r>
            <a:r>
              <a:rPr b="0" dirty="0" err="1">
                <a:latin typeface="Trebuchet MS" panose="020B0703020202090204" pitchFamily="34" charset="0"/>
              </a:rPr>
              <a:t>Künstliche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Intelligenz</a:t>
            </a:r>
            <a:endParaRPr b="0" dirty="0">
              <a:latin typeface="Trebuchet MS" panose="020B0703020202090204" pitchFamily="34" charset="0"/>
            </a:endParaRP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Wie lernen Menschen?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C84FC-9B37-0884-96E9-EA7F87BB8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786F-0FB0-E515-AB93-FDEE49573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dirty="0">
                <a:latin typeface="Trebuchet MS" panose="020B0703020202090204" pitchFamily="34" charset="0"/>
              </a:rPr>
              <a:t>„</a:t>
            </a:r>
            <a:r>
              <a:rPr lang="de-DE" sz="2400" dirty="0">
                <a:latin typeface="Trebuchet MS" panose="020B0703020202090204" pitchFamily="34" charset="0"/>
              </a:rPr>
              <a:t>Erstelle ein Bild mit einer Mischung aus Apfel und Zitrone.</a:t>
            </a:r>
            <a:r>
              <a:rPr lang="de-DE" dirty="0">
                <a:latin typeface="Trebuchet MS" panose="020B0703020202090204" pitchFamily="34" charset="0"/>
              </a:rPr>
              <a:t>“</a:t>
            </a:r>
            <a:br>
              <a:rPr lang="de-DE" dirty="0">
                <a:latin typeface="Trebuchet MS" panose="020B0703020202090204" pitchFamily="34" charset="0"/>
              </a:rPr>
            </a:br>
            <a:r>
              <a:rPr lang="de-DE" dirty="0">
                <a:latin typeface="Trebuchet MS" panose="020B0703020202090204" pitchFamily="34" charset="0"/>
              </a:rPr>
              <a:t> </a:t>
            </a:r>
            <a:endParaRPr b="0" dirty="0">
              <a:latin typeface="Trebuchet MS" panose="020B070302020209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DDCD3F2-CFB3-FD99-A37B-550E8C7A1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25" y="1243012"/>
            <a:ext cx="5340350" cy="534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647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065AA8-F69F-3662-D2A8-7E95B8C72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AF9B-8B00-9F1F-425B-41C2FC8E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KI </a:t>
            </a:r>
            <a:r>
              <a:rPr lang="de-DE" dirty="0">
                <a:latin typeface="Trebuchet MS" panose="020B0703020202090204" pitchFamily="34" charset="0"/>
              </a:rPr>
              <a:t>kann Text erstellen </a:t>
            </a:r>
            <a:r>
              <a:rPr b="0" dirty="0">
                <a:latin typeface="Trebuchet MS" panose="020B0703020202090204" pitchFamily="34" charset="0"/>
              </a:rPr>
              <a:t>🤖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CF14F-5A13-4CCE-A6BD-4109A59F5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Denken wir uns eine kurze Geschichte aus…</a:t>
            </a:r>
          </a:p>
        </p:txBody>
      </p:sp>
    </p:spTree>
    <p:extLst>
      <p:ext uri="{BB962C8B-B14F-4D97-AF65-F5344CB8AC3E}">
        <p14:creationId xmlns:p14="http://schemas.microsoft.com/office/powerpoint/2010/main" val="2820365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KI </a:t>
            </a:r>
            <a:r>
              <a:rPr b="0" dirty="0" err="1">
                <a:latin typeface="Trebuchet MS" panose="020B0703020202090204" pitchFamily="34" charset="0"/>
              </a:rPr>
              <a:t>hilft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beim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Programmieren</a:t>
            </a:r>
            <a:r>
              <a:rPr b="0" dirty="0">
                <a:latin typeface="Trebuchet MS" panose="020B0703020202090204" pitchFamily="34" charset="0"/>
              </a:rPr>
              <a:t> 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Wir geben der KI Anweisungen, was sie tun soll</a:t>
            </a:r>
          </a:p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 err="1">
                <a:latin typeface="Trebuchet MS" panose="020B0703020202090204" pitchFamily="34" charset="0"/>
              </a:rPr>
              <a:t>Beispiel</a:t>
            </a:r>
            <a:r>
              <a:rPr b="0" dirty="0">
                <a:latin typeface="Trebuchet MS" panose="020B0703020202090204" pitchFamily="34" charset="0"/>
              </a:rPr>
              <a:t>: </a:t>
            </a:r>
            <a:r>
              <a:rPr lang="de-DE" dirty="0">
                <a:latin typeface="Trebuchet MS" panose="020B0703020202090204" pitchFamily="34" charset="0"/>
              </a:rPr>
              <a:t>“Erstelle ein Jump &amp; Run in JavaScript mit p5“</a:t>
            </a:r>
            <a:endParaRPr b="0" dirty="0">
              <a:latin typeface="Trebuchet MS" panose="020B0703020202090204" pitchFamily="34" charset="0"/>
            </a:endParaRP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➡️ Die KI </a:t>
            </a:r>
            <a:r>
              <a:rPr b="0" dirty="0" err="1">
                <a:latin typeface="Trebuchet MS" panose="020B0703020202090204" pitchFamily="34" charset="0"/>
              </a:rPr>
              <a:t>schreibt</a:t>
            </a:r>
            <a:r>
              <a:rPr b="0" dirty="0">
                <a:latin typeface="Trebuchet MS" panose="020B0703020202090204" pitchFamily="34" charset="0"/>
              </a:rPr>
              <a:t> den Code – </a:t>
            </a:r>
            <a:r>
              <a:rPr b="0" dirty="0" err="1">
                <a:latin typeface="Trebuchet MS" panose="020B0703020202090204" pitchFamily="34" charset="0"/>
              </a:rPr>
              <a:t>wir</a:t>
            </a:r>
            <a:r>
              <a:rPr b="0" dirty="0">
                <a:latin typeface="Trebuchet MS" panose="020B0703020202090204" pitchFamily="34" charset="0"/>
              </a:rPr>
              <a:t> verstehen, was </a:t>
            </a:r>
            <a:r>
              <a:rPr b="0" dirty="0" err="1">
                <a:latin typeface="Trebuchet MS" panose="020B0703020202090204" pitchFamily="34" charset="0"/>
              </a:rPr>
              <a:t>passiert</a:t>
            </a:r>
            <a:r>
              <a:rPr b="0" dirty="0">
                <a:latin typeface="Trebuchet MS" panose="020B0703020202090204" pitchFamily="34" charset="0"/>
              </a:rPr>
              <a:t>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AC7223-111E-8880-ECE6-468D35C1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E35E4-5F98-CD34-F16B-4080D0E0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Was KI (noch) nicht kann </a:t>
            </a:r>
            <a:r>
              <a:rPr lang="de-DE" dirty="0">
                <a:latin typeface="Trebuchet MS" panose="020B0703020202090204" pitchFamily="34" charset="0"/>
              </a:rPr>
              <a:t>🤖</a:t>
            </a:r>
            <a:endParaRPr b="0" dirty="0">
              <a:latin typeface="Trebuchet MS" panose="020B070302020209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0D9F3-2418-22EB-23BD-295476BE0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KI weiß nur, was sie gelernt hat</a:t>
            </a:r>
          </a:p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KI kann sich irren oder Dinge erfinden</a:t>
            </a:r>
            <a:endParaRPr b="0" dirty="0">
              <a:latin typeface="Trebuchet MS" panose="020B0703020202090204" pitchFamily="34" charset="0"/>
            </a:endParaRP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KI kann sich verrennen</a:t>
            </a: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dirty="0">
                <a:latin typeface="Trebuchet MS" panose="020B0703020202090204" pitchFamily="34" charset="0"/>
              </a:rPr>
              <a:t>KI lernt ständig dazu – aber Menschen kontrollieren</a:t>
            </a:r>
            <a:endParaRPr b="0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41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736B4-E383-6D38-59D2-1B75A5F4D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F726-22D2-CA36-14CB-FC8830320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Was könnten wir mit KI noch </a:t>
            </a:r>
            <a:r>
              <a:rPr lang="de-DE" dirty="0">
                <a:latin typeface="Trebuchet MS" panose="020B0703020202090204" pitchFamily="34" charset="0"/>
              </a:rPr>
              <a:t>machen</a:t>
            </a:r>
            <a:r>
              <a:rPr b="0" dirty="0">
                <a:latin typeface="Trebuchet MS" panose="020B0703020202090204" pitchFamily="34" charset="0"/>
              </a:rPr>
              <a:t>?</a:t>
            </a:r>
            <a:r>
              <a:rPr lang="de-DE" dirty="0">
                <a:latin typeface="Trebuchet MS" panose="020B0703020202090204" pitchFamily="34" charset="0"/>
              </a:rPr>
              <a:t> 🤖</a:t>
            </a:r>
            <a:endParaRPr b="0" dirty="0">
              <a:latin typeface="Trebuchet MS" panose="020B0703020202090204" pitchFamily="34" charset="0"/>
            </a:endParaRPr>
          </a:p>
        </p:txBody>
      </p:sp>
      <p:sp>
        <p:nvSpPr>
          <p:cNvPr id="6" name="Gefaltete Ecke 5">
            <a:extLst>
              <a:ext uri="{FF2B5EF4-FFF2-40B4-BE49-F238E27FC236}">
                <a16:creationId xmlns:a16="http://schemas.microsoft.com/office/drawing/2014/main" id="{DF71C21D-D289-B85D-2078-56123162D0A5}"/>
              </a:ext>
            </a:extLst>
          </p:cNvPr>
          <p:cNvSpPr/>
          <p:nvPr/>
        </p:nvSpPr>
        <p:spPr>
          <a:xfrm>
            <a:off x="1145628" y="1817031"/>
            <a:ext cx="2963917" cy="1692166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Gefaltete Ecke 6">
            <a:extLst>
              <a:ext uri="{FF2B5EF4-FFF2-40B4-BE49-F238E27FC236}">
                <a16:creationId xmlns:a16="http://schemas.microsoft.com/office/drawing/2014/main" id="{186653BD-14BC-01A3-9608-0949F303B73E}"/>
              </a:ext>
            </a:extLst>
          </p:cNvPr>
          <p:cNvSpPr/>
          <p:nvPr/>
        </p:nvSpPr>
        <p:spPr>
          <a:xfrm>
            <a:off x="4577256" y="1817031"/>
            <a:ext cx="2963917" cy="1692166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Gefaltete Ecke 7">
            <a:extLst>
              <a:ext uri="{FF2B5EF4-FFF2-40B4-BE49-F238E27FC236}">
                <a16:creationId xmlns:a16="http://schemas.microsoft.com/office/drawing/2014/main" id="{EAE9168B-467E-21F2-F254-C44AEFE2156D}"/>
              </a:ext>
            </a:extLst>
          </p:cNvPr>
          <p:cNvSpPr/>
          <p:nvPr/>
        </p:nvSpPr>
        <p:spPr>
          <a:xfrm>
            <a:off x="1145628" y="3966397"/>
            <a:ext cx="2963917" cy="1692166"/>
          </a:xfrm>
          <a:prstGeom prst="foldedCorne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Gefaltete Ecke 8">
            <a:extLst>
              <a:ext uri="{FF2B5EF4-FFF2-40B4-BE49-F238E27FC236}">
                <a16:creationId xmlns:a16="http://schemas.microsoft.com/office/drawing/2014/main" id="{1F5FDFF0-D3EA-97EE-5707-9E0941F11E4B}"/>
              </a:ext>
            </a:extLst>
          </p:cNvPr>
          <p:cNvSpPr/>
          <p:nvPr/>
        </p:nvSpPr>
        <p:spPr>
          <a:xfrm>
            <a:off x="4577256" y="3966397"/>
            <a:ext cx="2963917" cy="1692166"/>
          </a:xfrm>
          <a:prstGeom prst="foldedCorne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3026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 err="1">
                <a:latin typeface="Trebuchet MS" panose="020B0703020202090204" pitchFamily="34" charset="0"/>
              </a:rPr>
              <a:t>Euer</a:t>
            </a:r>
            <a:r>
              <a:rPr b="0" dirty="0">
                <a:latin typeface="Trebuchet MS" panose="020B0703020202090204" pitchFamily="34" charset="0"/>
              </a:rPr>
              <a:t> Projekt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1️⃣ </a:t>
            </a:r>
            <a:r>
              <a:rPr b="0" dirty="0" err="1">
                <a:latin typeface="Trebuchet MS" panose="020B0703020202090204" pitchFamily="34" charset="0"/>
              </a:rPr>
              <a:t>Wählt</a:t>
            </a:r>
            <a:r>
              <a:rPr b="0" dirty="0">
                <a:latin typeface="Trebuchet MS" panose="020B0703020202090204" pitchFamily="34" charset="0"/>
              </a:rPr>
              <a:t>: Ball-Spiel </a:t>
            </a:r>
            <a:r>
              <a:rPr b="0" dirty="0" err="1">
                <a:latin typeface="Trebuchet MS" panose="020B0703020202090204" pitchFamily="34" charset="0"/>
              </a:rPr>
              <a:t>oder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lang="de-DE" b="0" dirty="0">
                <a:latin typeface="Trebuchet MS" panose="020B0703020202090204" pitchFamily="34" charset="0"/>
              </a:rPr>
              <a:t>Jump &amp; Run als Basis</a:t>
            </a:r>
            <a:endParaRPr b="0" dirty="0">
              <a:latin typeface="Trebuchet MS" panose="020B0703020202090204" pitchFamily="34" charset="0"/>
            </a:endParaRP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2️⃣ </a:t>
            </a:r>
            <a:r>
              <a:rPr b="0" dirty="0" err="1">
                <a:latin typeface="Trebuchet MS" panose="020B0703020202090204" pitchFamily="34" charset="0"/>
              </a:rPr>
              <a:t>Überlegt</a:t>
            </a:r>
            <a:r>
              <a:rPr b="0" dirty="0">
                <a:latin typeface="Trebuchet MS" panose="020B0703020202090204" pitchFamily="34" charset="0"/>
              </a:rPr>
              <a:t>, was </a:t>
            </a:r>
            <a:r>
              <a:rPr b="0" dirty="0" err="1">
                <a:latin typeface="Trebuchet MS" panose="020B0703020202090204" pitchFamily="34" charset="0"/>
              </a:rPr>
              <a:t>euer</a:t>
            </a:r>
            <a:r>
              <a:rPr b="0" dirty="0">
                <a:latin typeface="Trebuchet MS" panose="020B0703020202090204" pitchFamily="34" charset="0"/>
              </a:rPr>
              <a:t> Spiel </a:t>
            </a:r>
            <a:r>
              <a:rPr b="0" dirty="0" err="1">
                <a:latin typeface="Trebuchet MS" panose="020B0703020202090204" pitchFamily="34" charset="0"/>
              </a:rPr>
              <a:t>können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soll</a:t>
            </a:r>
            <a:endParaRPr b="0" dirty="0">
              <a:latin typeface="Trebuchet MS" panose="020B0703020202090204" pitchFamily="34" charset="0"/>
            </a:endParaRP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3️⃣ </a:t>
            </a:r>
            <a:r>
              <a:rPr b="0" dirty="0" err="1">
                <a:latin typeface="Trebuchet MS" panose="020B0703020202090204" pitchFamily="34" charset="0"/>
              </a:rPr>
              <a:t>Nutzt</a:t>
            </a:r>
            <a:r>
              <a:rPr b="0" dirty="0">
                <a:latin typeface="Trebuchet MS" panose="020B0703020202090204" pitchFamily="34" charset="0"/>
              </a:rPr>
              <a:t> KI, um Ideen </a:t>
            </a:r>
            <a:r>
              <a:rPr b="0" dirty="0" err="1">
                <a:latin typeface="Trebuchet MS" panose="020B0703020202090204" pitchFamily="34" charset="0"/>
              </a:rPr>
              <a:t>umzusetzen</a:t>
            </a:r>
            <a:endParaRPr b="0" dirty="0">
              <a:latin typeface="Trebuchet MS" panose="020B0703020202090204" pitchFamily="34" charset="0"/>
            </a:endParaRP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4️⃣ </a:t>
            </a:r>
            <a:r>
              <a:rPr b="0" dirty="0" err="1">
                <a:latin typeface="Trebuchet MS" panose="020B0703020202090204" pitchFamily="34" charset="0"/>
              </a:rPr>
              <a:t>Testet</a:t>
            </a:r>
            <a:r>
              <a:rPr b="0" dirty="0">
                <a:latin typeface="Trebuchet MS" panose="020B0703020202090204" pitchFamily="34" charset="0"/>
              </a:rPr>
              <a:t> und </a:t>
            </a:r>
            <a:r>
              <a:rPr b="0" dirty="0" err="1">
                <a:latin typeface="Trebuchet MS" panose="020B0703020202090204" pitchFamily="34" charset="0"/>
              </a:rPr>
              <a:t>verbessert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gemeinsam</a:t>
            </a:r>
            <a:endParaRPr b="0" dirty="0">
              <a:latin typeface="Trebuchet MS" panose="020B070302020209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Ideen für </a:t>
            </a:r>
            <a:r>
              <a:rPr b="0" dirty="0" err="1">
                <a:latin typeface="Trebuchet MS" panose="020B0703020202090204" pitchFamily="34" charset="0"/>
              </a:rPr>
              <a:t>euer</a:t>
            </a:r>
            <a:r>
              <a:rPr b="0" dirty="0">
                <a:latin typeface="Trebuchet MS" panose="020B0703020202090204" pitchFamily="34" charset="0"/>
              </a:rPr>
              <a:t> Spiel 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 err="1">
                <a:latin typeface="Trebuchet MS" panose="020B0703020202090204" pitchFamily="34" charset="0"/>
              </a:rPr>
              <a:t>Doppelsprung</a:t>
            </a:r>
            <a:endParaRPr b="0" dirty="0">
              <a:latin typeface="Trebuchet MS" panose="020B0703020202090204" pitchFamily="34" charset="0"/>
            </a:endParaRP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Sterne </a:t>
            </a:r>
            <a:r>
              <a:rPr b="0" dirty="0" err="1">
                <a:latin typeface="Trebuchet MS" panose="020B0703020202090204" pitchFamily="34" charset="0"/>
              </a:rPr>
              <a:t>einsammeln</a:t>
            </a:r>
            <a:r>
              <a:rPr b="0" dirty="0">
                <a:latin typeface="Trebuchet MS" panose="020B0703020202090204" pitchFamily="34" charset="0"/>
              </a:rPr>
              <a:t> ⭐</a:t>
            </a: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 err="1">
                <a:latin typeface="Trebuchet MS" panose="020B0703020202090204" pitchFamily="34" charset="0"/>
              </a:rPr>
              <a:t>Farbwechsel</a:t>
            </a:r>
            <a:endParaRPr b="0" dirty="0">
              <a:latin typeface="Trebuchet MS" panose="020B0703020202090204" pitchFamily="34" charset="0"/>
            </a:endParaRP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Gegner </a:t>
            </a:r>
            <a:r>
              <a:rPr b="0" dirty="0" err="1">
                <a:latin typeface="Trebuchet MS" panose="020B0703020202090204" pitchFamily="34" charset="0"/>
              </a:rPr>
              <a:t>oder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Hindernisse</a:t>
            </a:r>
            <a:endParaRPr b="0" dirty="0">
              <a:latin typeface="Trebuchet MS" panose="020B0703020202090204" pitchFamily="34" charset="0"/>
            </a:endParaRP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 err="1">
                <a:latin typeface="Trebuchet MS" panose="020B0703020202090204" pitchFamily="34" charset="0"/>
              </a:rPr>
              <a:t>Punkte</a:t>
            </a:r>
            <a:r>
              <a:rPr b="0" dirty="0">
                <a:latin typeface="Trebuchet MS" panose="020B0703020202090204" pitchFamily="34" charset="0"/>
              </a:rPr>
              <a:t> &amp; Level</a:t>
            </a:r>
            <a:endParaRPr lang="de-DE" b="0" dirty="0">
              <a:latin typeface="Trebuchet MS" panose="020B0703020202090204" pitchFamily="34" charset="0"/>
            </a:endParaRP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dirty="0">
                <a:latin typeface="Trebuchet MS" panose="020B0703020202090204" pitchFamily="34" charset="0"/>
              </a:rPr>
              <a:t>Sounds</a:t>
            </a:r>
            <a:endParaRPr b="0" dirty="0">
              <a:latin typeface="Trebuchet MS" panose="020B070302020209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b="0" dirty="0">
                <a:latin typeface="Trebuchet MS" panose="020B0703020202090204" pitchFamily="34" charset="0"/>
              </a:rPr>
              <a:t>Eure Game-Show </a:t>
            </a:r>
            <a:r>
              <a:rPr b="0" dirty="0">
                <a:latin typeface="Trebuchet MS" panose="020B0703020202090204" pitchFamily="34" charset="0"/>
              </a:rPr>
              <a:t>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>
                <a:latin typeface="Trebuchet MS" panose="020B0703020202090204" pitchFamily="34" charset="0"/>
              </a:rPr>
              <a:t>Jedes Team zeigt kurz sein Spiel!</a:t>
            </a: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>
                <a:latin typeface="Trebuchet MS" panose="020B0703020202090204" pitchFamily="34" charset="0"/>
              </a:rPr>
              <a:t>Applaus für alle Entwicklerinnen &amp; Entwickler 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 err="1">
                <a:latin typeface="Trebuchet MS" panose="020B0703020202090204" pitchFamily="34" charset="0"/>
              </a:rPr>
              <a:t>Rückblick</a:t>
            </a:r>
            <a:r>
              <a:rPr b="0" dirty="0">
                <a:latin typeface="Trebuchet MS" panose="020B0703020202090204" pitchFamily="34" charset="0"/>
              </a:rPr>
              <a:t> &amp; </a:t>
            </a:r>
            <a:r>
              <a:rPr b="0" dirty="0" err="1">
                <a:latin typeface="Trebuchet MS" panose="020B0703020202090204" pitchFamily="34" charset="0"/>
              </a:rPr>
              <a:t>Abschluss</a:t>
            </a:r>
            <a:r>
              <a:rPr b="0" dirty="0">
                <a:latin typeface="Trebuchet MS" panose="020B0703020202090204" pitchFamily="34" charset="0"/>
              </a:rPr>
              <a:t> 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Was hat </a:t>
            </a:r>
            <a:r>
              <a:rPr b="0" dirty="0" err="1">
                <a:latin typeface="Trebuchet MS" panose="020B0703020202090204" pitchFamily="34" charset="0"/>
              </a:rPr>
              <a:t>euch</a:t>
            </a:r>
            <a:r>
              <a:rPr b="0" dirty="0">
                <a:latin typeface="Trebuchet MS" panose="020B0703020202090204" pitchFamily="34" charset="0"/>
              </a:rPr>
              <a:t> am </a:t>
            </a:r>
            <a:r>
              <a:rPr b="0" dirty="0" err="1">
                <a:latin typeface="Trebuchet MS" panose="020B0703020202090204" pitchFamily="34" charset="0"/>
              </a:rPr>
              <a:t>meisten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Spaß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gemacht</a:t>
            </a:r>
            <a:r>
              <a:rPr b="0" dirty="0">
                <a:latin typeface="Trebuchet MS" panose="020B0703020202090204" pitchFamily="34" charset="0"/>
              </a:rPr>
              <a:t>?</a:t>
            </a: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Was war </a:t>
            </a:r>
            <a:r>
              <a:rPr b="0" dirty="0" err="1">
                <a:latin typeface="Trebuchet MS" panose="020B0703020202090204" pitchFamily="34" charset="0"/>
              </a:rPr>
              <a:t>schwierig</a:t>
            </a:r>
            <a:r>
              <a:rPr b="0" dirty="0">
                <a:latin typeface="Trebuchet MS" panose="020B0703020202090204" pitchFamily="34" charset="0"/>
              </a:rPr>
              <a:t>?</a:t>
            </a: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b="0" dirty="0">
                <a:latin typeface="Trebuchet MS" panose="020B0703020202090204" pitchFamily="34" charset="0"/>
              </a:rPr>
              <a:t>Wie hat </a:t>
            </a:r>
            <a:r>
              <a:rPr b="0" dirty="0" err="1">
                <a:latin typeface="Trebuchet MS" panose="020B0703020202090204" pitchFamily="34" charset="0"/>
              </a:rPr>
              <a:t>euch</a:t>
            </a:r>
            <a:r>
              <a:rPr b="0" dirty="0">
                <a:latin typeface="Trebuchet MS" panose="020B0703020202090204" pitchFamily="34" charset="0"/>
              </a:rPr>
              <a:t> die KI </a:t>
            </a:r>
            <a:r>
              <a:rPr b="0" dirty="0" err="1">
                <a:latin typeface="Trebuchet MS" panose="020B0703020202090204" pitchFamily="34" charset="0"/>
              </a:rPr>
              <a:t>geholfen</a:t>
            </a:r>
            <a:r>
              <a:rPr b="0" dirty="0">
                <a:latin typeface="Trebuchet MS" panose="020B0703020202090204" pitchFamily="34" charset="0"/>
              </a:rPr>
              <a:t>?</a:t>
            </a: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endParaRPr lang="de-DE" b="0" dirty="0">
              <a:latin typeface="Trebuchet MS" panose="020B0703020202090204" pitchFamily="34" charset="0"/>
            </a:endParaRPr>
          </a:p>
          <a:p>
            <a:pPr algn="l">
              <a:defRPr sz="2400">
                <a:solidFill>
                  <a:srgbClr val="28283C"/>
                </a:solidFill>
                <a:latin typeface="Comic Sans MS"/>
              </a:defRPr>
            </a:pPr>
            <a:r>
              <a:rPr lang="de-DE" dirty="0">
                <a:latin typeface="Trebuchet MS" panose="020B0703020202090204" pitchFamily="34" charset="0"/>
              </a:rPr>
              <a:t>Glückwunsch! </a:t>
            </a:r>
            <a:r>
              <a:rPr b="0" dirty="0" err="1">
                <a:latin typeface="Trebuchet MS" panose="020B0703020202090204" pitchFamily="34" charset="0"/>
              </a:rPr>
              <a:t>Ihr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seid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jetzt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echte</a:t>
            </a:r>
            <a:r>
              <a:rPr b="0" dirty="0">
                <a:latin typeface="Trebuchet MS" panose="020B0703020202090204" pitchFamily="34" charset="0"/>
              </a:rPr>
              <a:t> </a:t>
            </a:r>
            <a:r>
              <a:rPr b="0" dirty="0" err="1">
                <a:latin typeface="Trebuchet MS" panose="020B0703020202090204" pitchFamily="34" charset="0"/>
              </a:rPr>
              <a:t>Spiele-Entwickler</a:t>
            </a:r>
            <a:r>
              <a:rPr b="0" dirty="0">
                <a:latin typeface="Trebuchet MS" panose="020B0703020202090204" pitchFamily="34" charset="0"/>
              </a:rPr>
              <a:t>! 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Macintosh PowerPoint</Application>
  <PresentationFormat>Bildschirmpräsentation (4:3)</PresentationFormat>
  <Paragraphs>77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Arial</vt:lpstr>
      <vt:lpstr>Calibri</vt:lpstr>
      <vt:lpstr>Trebuchet MS</vt:lpstr>
      <vt:lpstr>Office Theme</vt:lpstr>
      <vt:lpstr>Spieleprogrammierung mit KI</vt:lpstr>
      <vt:lpstr>Willkommen! </vt:lpstr>
      <vt:lpstr>Was ist Programmierung?</vt:lpstr>
      <vt:lpstr>PowerPoint-Präsentation</vt:lpstr>
      <vt:lpstr>Teamgenerator 🎲</vt:lpstr>
      <vt:lpstr>Was braucht ein Spiel? 🎮</vt:lpstr>
      <vt:lpstr>Was braucht ein Spiel?</vt:lpstr>
      <vt:lpstr>Unser erstes Ball-Spiel 🏀</vt:lpstr>
      <vt:lpstr>Pause 🍪</vt:lpstr>
      <vt:lpstr>Was ist KI? 🤖</vt:lpstr>
      <vt:lpstr>„Erstelle ein Bild mit einer Mischung aus Apfel und Zitrone.“  </vt:lpstr>
      <vt:lpstr>KI kann Text erstellen 🤖</vt:lpstr>
      <vt:lpstr>KI hilft beim Programmieren 💬</vt:lpstr>
      <vt:lpstr>Was KI (noch) nicht kann 🤖</vt:lpstr>
      <vt:lpstr>Was könnten wir mit KI noch machen? 🤖</vt:lpstr>
      <vt:lpstr>Euer Projekt 🚀</vt:lpstr>
      <vt:lpstr>Ideen für euer Spiel 🌟</vt:lpstr>
      <vt:lpstr>Eure Game-Show 🎉</vt:lpstr>
      <vt:lpstr>Rückblick &amp; Abschluss 🏁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 Bär</cp:lastModifiedBy>
  <cp:revision>47</cp:revision>
  <dcterms:created xsi:type="dcterms:W3CDTF">2013-01-27T09:14:16Z</dcterms:created>
  <dcterms:modified xsi:type="dcterms:W3CDTF">2025-11-01T19:05:41Z</dcterms:modified>
  <cp:category/>
</cp:coreProperties>
</file>